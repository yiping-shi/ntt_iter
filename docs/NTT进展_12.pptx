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18" r:id="rId2"/>
    <p:sldId id="1707" r:id="rId3"/>
    <p:sldId id="1700" r:id="rId4"/>
    <p:sldId id="1704" r:id="rId5"/>
    <p:sldId id="1706" r:id="rId6"/>
    <p:sldId id="1701" r:id="rId7"/>
    <p:sldId id="1702" r:id="rId8"/>
    <p:sldId id="1705" r:id="rId9"/>
    <p:sldId id="170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81AEA-C27F-450C-800A-BDFBA450F56F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7C04A-D4AB-46BA-B680-E83B22DBD4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28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56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766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75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36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48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18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0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2F45C-35B8-4683-876E-CAF2FEDF6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9BED56-0CF0-45BF-87B0-0F0C148CE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4FD2C4-7B0F-4404-97DF-7658B2B9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3F896-7ED9-448A-94FC-BDC2E6D3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6BCB7-CCC1-4290-A9DB-0D9C1ADA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61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4B1EA-5133-4114-BB90-3422AF3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6D643-0F35-4A73-87AE-F74A802F0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3A517-3A8A-49B0-845D-D0C35073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527DC2-D7CC-4C3E-B602-85C62A3C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B88DB-038B-4825-93C8-F9920580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44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C0F8A-768E-4503-9FDE-DE0643D7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0FFC35-D497-4158-9885-9E1BE5238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25B44-4578-46B8-B7A8-3FF34F91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B9606-DBB2-4B75-9607-4E9F719F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9E47C-5D13-46F7-8149-CEEA2EBA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21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415ED-3371-48A5-810B-E48BC0EB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022B6-AF4F-4D84-A433-198AE40BF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5883FE-42D8-40BD-9DBB-B0707A4C3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6C8A57-92FB-4B6F-8542-BB0354CF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11D76C-822C-46B2-8667-E50E50E2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142B8F-B34C-4F58-9DCB-03E1FCB54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8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170B6-0745-427F-A32D-0ABD22C6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FB253F-18CC-4D16-A7D4-9E811FF80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048921-086E-47A4-8E1A-224CA819D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D45E81-6908-475C-8FF5-C4BA608DC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906B32-8C7D-4BB9-ACB1-6209E8B23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70A575-4F99-4FB4-96ED-0121B498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DCE6D7-1DB6-4A11-8EA4-2A9DE192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D2732C-7535-40CB-8BFD-551FEEA2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4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64DF1-8D6D-4EA8-ACF9-D47C72C1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CE73A6-2C36-420D-811D-E65F525C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F57A62-CD53-4405-86EE-71C17E92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C4BFD9-E030-457F-BBC7-5819AB04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30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6AC8C1-8EBD-4A3D-A41C-064B71D2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2F1E12-0E4C-443A-8232-CB71308E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B39E54-C4F8-495E-A485-EB4C28E7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61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7BA88-B429-48C5-B2D0-120BBAA6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CA6C7-2B01-4238-A394-7C8DB7128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45053A-0036-49ED-94A8-B0F69CEC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10B4E7-55AC-4146-86B5-BB09BA71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F29ADD-6469-48CA-BF8D-DD0B35AF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755BCD-29BA-4586-9157-D648C085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72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BEB9D-01F4-42A4-A56C-5BF59000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04C908-9A70-4B1E-8842-108623190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D19F1C-4C07-458E-B959-AF302D608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D21D5F-C149-4705-9826-C8126331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8189F-F100-441A-9476-5564F01B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9F997E-AABA-41DC-8269-860802308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5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5DFF4-F164-4855-A1D3-BAE6AB3F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A24862-A6A4-474B-A644-003E96CF9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3AF61-46BE-4B90-8C22-CBC70730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A0F85-BD7E-44E8-AD66-01BB134E5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4546A7-A2F2-4A04-8E59-E440E652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36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F1BBD5-53D5-4A0C-A2CE-2DF71EB58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70C943-65CE-40E2-A26A-C02079987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779F4-1A6D-4EE0-BABC-36B77CED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4A86D-EF6B-4E69-9026-83B743C7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A965A-B5C2-4754-A86B-78EE7C9F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270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-04"/>
          <p:cNvPicPr>
            <a:picLocks noChangeAspect="1"/>
          </p:cNvPicPr>
          <p:nvPr userDrawn="1"/>
        </p:nvPicPr>
        <p:blipFill rotWithShape="1">
          <a:blip r:embed="rId3"/>
          <a:srcRect l="8156" t="21366" r="39587" b="27262"/>
          <a:stretch/>
        </p:blipFill>
        <p:spPr>
          <a:xfrm>
            <a:off x="-1" y="0"/>
            <a:ext cx="1720849" cy="1117600"/>
          </a:xfrm>
          <a:prstGeom prst="rect">
            <a:avLst/>
          </a:prstGeom>
        </p:spPr>
      </p:pic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53960716-3487-FC41-88F0-9CF898ABE0DE}"/>
              </a:ext>
            </a:extLst>
          </p:cNvPr>
          <p:cNvCxnSpPr/>
          <p:nvPr userDrawn="1"/>
        </p:nvCxnSpPr>
        <p:spPr>
          <a:xfrm>
            <a:off x="1857982" y="300747"/>
            <a:ext cx="0" cy="661481"/>
          </a:xfrm>
          <a:prstGeom prst="line">
            <a:avLst/>
          </a:prstGeom>
          <a:ln w="19050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7861300" y="6337300"/>
            <a:ext cx="4114800" cy="365125"/>
          </a:xfrm>
        </p:spPr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80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F36781-A258-41AB-A5AB-BA68EEF8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392658-5F1D-46C8-B1F7-562A87CE5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4DEF54-312E-4967-9F48-9A1B86E9E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56064-A5E2-41DD-931A-FECAD563C17D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7097A-EAD6-4021-9F70-9CED7F09E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2ECB3D-70FE-4BBF-8F11-EFD667520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87F98-9618-4E18-B18B-82D7E5398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24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0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94970" y="2356267"/>
            <a:ext cx="11078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2060"/>
                </a:solidFill>
                <a:cs typeface="+mn-ea"/>
                <a:sym typeface="+mn-lt"/>
              </a:rPr>
              <a:t>Polynomial Multiplication Accelerator for FHE</a:t>
            </a:r>
          </a:p>
        </p:txBody>
      </p:sp>
      <p:pic>
        <p:nvPicPr>
          <p:cNvPr id="5" name="图片 4" descr="logo-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6" name="图片 5" descr="logo-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242240" y="4216311"/>
            <a:ext cx="17075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  <a:cs typeface="+mn-ea"/>
                <a:sym typeface="+mn-lt"/>
              </a:rPr>
              <a:t>南京大学</a:t>
            </a:r>
            <a:endParaRPr lang="en-US" altLang="zh-CN" sz="2400" b="1" dirty="0">
              <a:solidFill>
                <a:srgbClr val="002060"/>
              </a:solidFill>
              <a:cs typeface="+mn-ea"/>
              <a:sym typeface="+mn-lt"/>
            </a:endParaRPr>
          </a:p>
          <a:p>
            <a:pPr algn="ctr"/>
            <a:r>
              <a:rPr lang="en-US" altLang="zh-CN" sz="2400" b="1" dirty="0">
                <a:solidFill>
                  <a:srgbClr val="002060"/>
                </a:solidFill>
                <a:cs typeface="+mn-ea"/>
                <a:sym typeface="+mn-lt"/>
              </a:rPr>
              <a:t>ISCL</a:t>
            </a:r>
            <a:r>
              <a:rPr lang="zh-CN" altLang="en-US" sz="2400" b="1" dirty="0">
                <a:solidFill>
                  <a:srgbClr val="002060"/>
                </a:solidFill>
                <a:cs typeface="+mn-ea"/>
                <a:sym typeface="+mn-lt"/>
              </a:rPr>
              <a:t>实验室</a:t>
            </a:r>
            <a:endParaRPr lang="en-US" altLang="zh-CN" sz="2400" b="1" dirty="0">
              <a:solidFill>
                <a:srgbClr val="002060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400" b="1" dirty="0">
                <a:solidFill>
                  <a:srgbClr val="002060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cs typeface="+mn-ea"/>
                <a:sym typeface="+mn-lt"/>
              </a:rPr>
              <a:t>2024.12</a:t>
            </a:r>
          </a:p>
        </p:txBody>
      </p:sp>
      <p:pic>
        <p:nvPicPr>
          <p:cNvPr id="7" name="图片 5" descr="logo-04"/>
          <p:cNvPicPr>
            <a:picLocks noChangeAspect="1"/>
          </p:cNvPicPr>
          <p:nvPr/>
        </p:nvPicPr>
        <p:blipFill rotWithShape="1">
          <a:blip r:embed="rId5"/>
          <a:srcRect l="17547" t="29302" r="40417" b="31877"/>
          <a:stretch/>
        </p:blipFill>
        <p:spPr>
          <a:xfrm>
            <a:off x="5424805" y="260350"/>
            <a:ext cx="1384300" cy="8445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研究动机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45CD87-0C65-4534-8B00-DC0DD19586C1}"/>
              </a:ext>
            </a:extLst>
          </p:cNvPr>
          <p:cNvSpPr txBox="1"/>
          <p:nvPr/>
        </p:nvSpPr>
        <p:spPr>
          <a:xfrm>
            <a:off x="443552" y="1277244"/>
            <a:ext cx="1120481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Aft>
                <a:spcPts val="600"/>
              </a:spcAft>
              <a:defRPr/>
            </a:pPr>
            <a:r>
              <a:rPr lang="en-US" altLang="zh-CN" sz="24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Motivation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针对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FHE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中的多项式乘法，目前主流方法依赖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实现加速，但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需要执行大量高成本的模乘运算，硬件资源消耗随安全参数提升而日益凸显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虽然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在大规模多项式计算中性能卓越，但当多项式维度缩减至较小粒度时，基于分治的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Karatsuba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算法往往更高效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基于这一观察，当</a:t>
            </a: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将多项式规模迭代缩减至合适阈值后，“无缝”切换至</a:t>
            </a: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Karatsuba</a:t>
            </a: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算法可明显减少模乘次数，从而有效降低硬件负担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当前研究尚未充分利用这种逐层切换的潜在优势，缺乏在不同粒度下灵活平衡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Karatsuba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的系统化策略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渐进式过渡策略，当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将多项式降低至合适规模时，</a:t>
            </a: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Karatsuba</a:t>
            </a: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使系统无需再承担海量模乘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，反而能以更轻量的操作快速完成最终的计算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以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Karatsuba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替代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的内核操作后，原本处于系统中的逐元素乘法操作可以</a:t>
            </a: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由模乘操作简化为单纯的乘法操作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，使得计算在通用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CPU/GPU/TPU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上更高效执行，无需大量专用模乘单元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125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方法概述与建模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AEA883E-5FD7-4991-9D01-C222AD241735}"/>
                  </a:ext>
                </a:extLst>
              </p:cNvPr>
              <p:cNvSpPr txBox="1"/>
              <p:nvPr/>
            </p:nvSpPr>
            <p:spPr>
              <a:xfrm>
                <a:off x="186894" y="1196130"/>
                <a:ext cx="6103515" cy="2805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AutoNum type="arabicPeriod"/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多项式环</a:t>
                </a:r>
                <a:endParaRPr lang="en-US" altLang="zh-CN" sz="2000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𝑍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/(</m:t>
                    </m:r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marR="0" indent="-457200">
                  <a:lnSpc>
                    <a:spcPct val="150000"/>
                  </a:lnSpc>
                  <a:spcAft>
                    <a:spcPts val="600"/>
                  </a:spcAft>
                  <a:buAutoNum type="arabicPeriod"/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环上多项式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Input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  <m:r>
                                  <a:rPr lang="en-US" altLang="zh-CN" sz="2000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Output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+…+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AEA883E-5FD7-4991-9D01-C222AD241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94" y="1196130"/>
                <a:ext cx="6103515" cy="2805768"/>
              </a:xfrm>
              <a:prstGeom prst="rect">
                <a:avLst/>
              </a:prstGeom>
              <a:blipFill>
                <a:blip r:embed="rId3"/>
                <a:stretch>
                  <a:fillRect l="-1299" t="-2391"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0DD55DB-1E47-48A6-B740-FB3CE2344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409" y="980736"/>
            <a:ext cx="5537665" cy="26222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4DDAAA7-64BD-41E7-AF59-BC0C3F67FEA6}"/>
              </a:ext>
            </a:extLst>
          </p:cNvPr>
          <p:cNvSpPr txBox="1"/>
          <p:nvPr/>
        </p:nvSpPr>
        <p:spPr>
          <a:xfrm>
            <a:off x="6290409" y="3724899"/>
            <a:ext cx="5666929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Solution system for polynomial multiplication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3A44A5-DA01-41B6-BD81-7A51F47581FC}"/>
              </a:ext>
            </a:extLst>
          </p:cNvPr>
          <p:cNvSpPr/>
          <p:nvPr/>
        </p:nvSpPr>
        <p:spPr>
          <a:xfrm>
            <a:off x="6290409" y="858820"/>
            <a:ext cx="5666929" cy="3143078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DD8457D-5442-46D3-AD92-9DCA456F4B39}"/>
              </a:ext>
            </a:extLst>
          </p:cNvPr>
          <p:cNvCxnSpPr/>
          <p:nvPr/>
        </p:nvCxnSpPr>
        <p:spPr>
          <a:xfrm>
            <a:off x="0" y="4177456"/>
            <a:ext cx="12192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3069C0-4489-4196-9888-5CC09AD83CAA}"/>
                  </a:ext>
                </a:extLst>
              </p:cNvPr>
              <p:cNvSpPr txBox="1"/>
              <p:nvPr/>
            </p:nvSpPr>
            <p:spPr>
              <a:xfrm>
                <a:off x="186895" y="4534163"/>
                <a:ext cx="4537506" cy="1815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lnSpc>
                    <a:spcPct val="124000"/>
                  </a:lnSpc>
                  <a:spcAft>
                    <a:spcPts val="600"/>
                  </a:spcAft>
                  <a:buFont typeface="+mj-lt"/>
                  <a:buAutoNum type="arabicPeriod" startAt="3"/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参数定义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24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多项式度数：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16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=65536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24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数据位宽：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𝐾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=32 ~ 64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𝑏𝑖𝑡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24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=998,244,353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3069C0-4489-4196-9888-5CC09AD83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95" y="4534163"/>
                <a:ext cx="4537506" cy="1815369"/>
              </a:xfrm>
              <a:prstGeom prst="rect">
                <a:avLst/>
              </a:prstGeom>
              <a:blipFill>
                <a:blip r:embed="rId5"/>
                <a:stretch>
                  <a:fillRect l="-1747" t="-1342" b="-5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0E1A88F-6192-471F-B54F-6458A7B01E24}"/>
                  </a:ext>
                </a:extLst>
              </p:cNvPr>
              <p:cNvSpPr txBox="1"/>
              <p:nvPr/>
            </p:nvSpPr>
            <p:spPr>
              <a:xfrm>
                <a:off x="5430980" y="4333272"/>
                <a:ext cx="4648201" cy="891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次原根：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𝑝h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𝑚𝑜𝑑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==1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𝑝h𝑖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𝑝h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𝑚𝑜𝑑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==1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0E1A88F-6192-471F-B54F-6458A7B01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0" y="4333272"/>
                <a:ext cx="4648201" cy="891719"/>
              </a:xfrm>
              <a:prstGeom prst="rect">
                <a:avLst/>
              </a:prstGeom>
              <a:blipFill>
                <a:blip r:embed="rId6"/>
                <a:stretch>
                  <a:fillRect l="-1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9482DE1-CAC2-4A69-BA7F-858A73F9D688}"/>
                  </a:ext>
                </a:extLst>
              </p:cNvPr>
              <p:cNvSpPr txBox="1"/>
              <p:nvPr/>
            </p:nvSpPr>
            <p:spPr>
              <a:xfrm>
                <a:off x="5430980" y="5247564"/>
                <a:ext cx="4648201" cy="1503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2N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次原根：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𝑝𝑠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𝑚𝑜𝑑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==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𝑝h𝑖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𝑝𝑠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𝑚𝑜𝑑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==−1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𝑝𝑠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𝑚𝑜𝑑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==1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𝑝𝑠𝑖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𝑝𝑠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𝑚𝑜𝑑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𝑞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==1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9482DE1-CAC2-4A69-BA7F-858A73F9D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80" y="5247564"/>
                <a:ext cx="4648201" cy="1503232"/>
              </a:xfrm>
              <a:prstGeom prst="rect">
                <a:avLst/>
              </a:prstGeom>
              <a:blipFill>
                <a:blip r:embed="rId7"/>
                <a:stretch>
                  <a:fillRect l="-1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51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23AE034-13E5-476A-A329-AD77883B1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952" y="116007"/>
            <a:ext cx="5300760" cy="622337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方法概述与建模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707948-2D1D-43B2-ABC3-1AADA6DFC2BD}"/>
              </a:ext>
            </a:extLst>
          </p:cNvPr>
          <p:cNvSpPr txBox="1"/>
          <p:nvPr/>
        </p:nvSpPr>
        <p:spPr>
          <a:xfrm>
            <a:off x="6697952" y="6365978"/>
            <a:ext cx="5300760" cy="307777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Data Flow </a:t>
            </a: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NTT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Iterative Karatsuba Algorithm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3DE316-6174-4CAA-9598-65ED91D0252C}"/>
              </a:ext>
            </a:extLst>
          </p:cNvPr>
          <p:cNvSpPr/>
          <p:nvPr/>
        </p:nvSpPr>
        <p:spPr>
          <a:xfrm>
            <a:off x="6697952" y="68239"/>
            <a:ext cx="5300760" cy="6605516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2332EE-C022-495A-88C5-24B692A9D133}"/>
                  </a:ext>
                </a:extLst>
              </p:cNvPr>
              <p:cNvSpPr txBox="1"/>
              <p:nvPr/>
            </p:nvSpPr>
            <p:spPr>
              <a:xfrm>
                <a:off x="330196" y="1318960"/>
                <a:ext cx="6103515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AutoNum type="arabicPeriod"/>
                  <a:defRPr/>
                </a:pP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NTT</a:t>
                </a: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基于蝴蝶单元（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Butterfly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）分阶段计算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模乘          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x1</a:t>
                </a: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模加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减   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x2</a:t>
                </a: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计算复杂度：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𝑁𝑙𝑜𝑔𝑁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2332EE-C022-495A-88C5-24B692A9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96" y="1318960"/>
                <a:ext cx="6103515" cy="1938992"/>
              </a:xfrm>
              <a:prstGeom prst="rect">
                <a:avLst/>
              </a:prstGeom>
              <a:blipFill>
                <a:blip r:embed="rId4"/>
                <a:stretch>
                  <a:fillRect l="-1299" t="-3145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5C21A3-BF7B-4038-AA73-C5ED9513BD36}"/>
                  </a:ext>
                </a:extLst>
              </p:cNvPr>
              <p:cNvSpPr txBox="1"/>
              <p:nvPr/>
            </p:nvSpPr>
            <p:spPr>
              <a:xfrm>
                <a:off x="330195" y="3600049"/>
                <a:ext cx="6103515" cy="1183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Font typeface="+mj-lt"/>
                  <a:buAutoNum type="arabicPeriod" startAt="2"/>
                  <a:defRPr/>
                </a:pP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Iterative Karatsuba Algorithm</a:t>
                </a: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Karatsuba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算法是一种用于大数乘法的算法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计算复杂度：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e>
                      <m:sup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e>
                        </m:func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≈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1.585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b="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5C21A3-BF7B-4038-AA73-C5ED9513B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95" y="3600049"/>
                <a:ext cx="6103515" cy="1183337"/>
              </a:xfrm>
              <a:prstGeom prst="rect">
                <a:avLst/>
              </a:prstGeom>
              <a:blipFill>
                <a:blip r:embed="rId5"/>
                <a:stretch>
                  <a:fillRect l="-1299" t="-5670" b="-8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DB3AB15B-591D-4B57-B03E-EA07D2E71A71}"/>
              </a:ext>
            </a:extLst>
          </p:cNvPr>
          <p:cNvSpPr txBox="1"/>
          <p:nvPr/>
        </p:nvSpPr>
        <p:spPr>
          <a:xfrm>
            <a:off x="330194" y="4783386"/>
            <a:ext cx="610351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我们提出</a:t>
            </a:r>
            <a:r>
              <a:rPr lang="en-US" altLang="zh-CN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Iterative Karatsuba Algorithm (IKA)</a:t>
            </a: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在算法结构上实现了对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Karatsuba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算法的细粒度迭代扩展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复用了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的模块化处理与高并行度特性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模加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减    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48996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方法概述与建模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2332EE-C022-495A-88C5-24B692A9D133}"/>
                  </a:ext>
                </a:extLst>
              </p:cNvPr>
              <p:cNvSpPr txBox="1"/>
              <p:nvPr/>
            </p:nvSpPr>
            <p:spPr>
              <a:xfrm>
                <a:off x="301284" y="1113972"/>
                <a:ext cx="6452807" cy="273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AutoNum type="arabicPeriod"/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NTT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方法的多项式乘法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对多项式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分别执行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，得到：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𝑁𝑇𝑇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𝑁𝑇𝑇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逐元素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模乘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，得到：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𝑁𝑇𝑇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𝑁𝑇𝑇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⊙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𝑁𝑇𝑇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𝐵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sz="2000" b="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对多项式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NTT(C)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执行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INTT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，得到：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𝐼𝑁𝑇𝑇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𝑁𝑇𝑇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2332EE-C022-495A-88C5-24B692A9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4" y="1113972"/>
                <a:ext cx="6452807" cy="2732095"/>
              </a:xfrm>
              <a:prstGeom prst="rect">
                <a:avLst/>
              </a:prstGeom>
              <a:blipFill>
                <a:blip r:embed="rId3"/>
                <a:stretch>
                  <a:fillRect l="-1228" t="-2455" b="-2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2E38EF18-EAF2-4EAC-B06C-E64B283C7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658" y="3932963"/>
            <a:ext cx="5670645" cy="2545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5C21A3-BF7B-4038-AA73-C5ED9513BD36}"/>
                  </a:ext>
                </a:extLst>
              </p:cNvPr>
              <p:cNvSpPr txBox="1"/>
              <p:nvPr/>
            </p:nvSpPr>
            <p:spPr>
              <a:xfrm>
                <a:off x="5653232" y="1118976"/>
                <a:ext cx="7660569" cy="2708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Font typeface="+mj-lt"/>
                  <a:buAutoNum type="arabicPeriod" startAt="2"/>
                  <a:defRPr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IKA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方法的多项式乘法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对多项式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分别执行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IKA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，得到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逐元素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乘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，得到：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sz="2000" b="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对多项式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NTT(C)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执行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Inv_IKA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，得到：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𝐼𝑛𝑣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_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𝐼𝐾𝐴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5C21A3-BF7B-4038-AA73-C5ED9513B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232" y="1118976"/>
                <a:ext cx="7660569" cy="2708434"/>
              </a:xfrm>
              <a:prstGeom prst="rect">
                <a:avLst/>
              </a:prstGeom>
              <a:blipFill>
                <a:blip r:embed="rId5"/>
                <a:stretch>
                  <a:fillRect l="-1034" t="-2477"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DFF8816E-BF6A-4FCC-8DCB-B6AB2AA14512}"/>
              </a:ext>
            </a:extLst>
          </p:cNvPr>
          <p:cNvSpPr txBox="1"/>
          <p:nvPr/>
        </p:nvSpPr>
        <p:spPr>
          <a:xfrm>
            <a:off x="2743200" y="6478863"/>
            <a:ext cx="5998192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Operation comparison </a:t>
            </a:r>
            <a:r>
              <a:rPr lang="en-US" altLang="zh-CN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(N=256)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8DB9D5-27CD-43ED-A319-155DC6003D84}"/>
              </a:ext>
            </a:extLst>
          </p:cNvPr>
          <p:cNvSpPr/>
          <p:nvPr/>
        </p:nvSpPr>
        <p:spPr>
          <a:xfrm>
            <a:off x="2743200" y="3914306"/>
            <a:ext cx="5998192" cy="2841555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40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计算量分析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89ABF0-A4E5-446F-A894-ED5B68715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352" y="264536"/>
            <a:ext cx="5537665" cy="26222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62A2D5-153F-4573-BE92-1581E8B7C558}"/>
              </a:ext>
            </a:extLst>
          </p:cNvPr>
          <p:cNvSpPr txBox="1"/>
          <p:nvPr/>
        </p:nvSpPr>
        <p:spPr>
          <a:xfrm>
            <a:off x="6331352" y="3008699"/>
            <a:ext cx="5666929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Solution system for polynomial multiplication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801C44-5410-4EE8-A430-DE4513214368}"/>
              </a:ext>
            </a:extLst>
          </p:cNvPr>
          <p:cNvSpPr/>
          <p:nvPr/>
        </p:nvSpPr>
        <p:spPr>
          <a:xfrm>
            <a:off x="6331352" y="142620"/>
            <a:ext cx="5666929" cy="3143078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9A8083-5EA9-4D57-A838-2ED94D209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54" y="3450110"/>
            <a:ext cx="4093313" cy="2902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125A3E0-0D43-4981-BBE9-BF75B171D6B1}"/>
                  </a:ext>
                </a:extLst>
              </p:cNvPr>
              <p:cNvSpPr txBox="1"/>
              <p:nvPr/>
            </p:nvSpPr>
            <p:spPr>
              <a:xfrm>
                <a:off x="-136478" y="1172657"/>
                <a:ext cx="6232478" cy="491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由于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与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IKA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两种算法在不同的规模上具有不同的优势，因此需要分阶段在特定粒度上执行特定的算法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全部阶段数：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=16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IKA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执行阶段数：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0,1,…,16</m:t>
                        </m:r>
                      </m:e>
                    </m:d>
                  </m:oMath>
                </a14:m>
                <a:endParaRPr lang="en-US" altLang="zh-CN" sz="2000" b="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执行阶段数：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∈{16,15,…,0}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其中，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包含模乘与模加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减，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IKA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只包含模加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减，在中间还需要执行一次逐元素乘法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建模得到一个优化问题：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∈{0,…,16}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𝐶𝑜𝑠𝑡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_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𝑓𝑢𝑛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1257300" lvl="2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𝐶𝑜𝑠𝑡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_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𝑓𝑢𝑛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是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计算代价函数</a:t>
                </a:r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125A3E0-0D43-4981-BBE9-BF75B171D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6478" y="1172657"/>
                <a:ext cx="6232478" cy="4918975"/>
              </a:xfrm>
              <a:prstGeom prst="rect">
                <a:avLst/>
              </a:prstGeom>
              <a:blipFill>
                <a:blip r:embed="rId5"/>
                <a:stretch>
                  <a:fillRect t="-743" r="-391" b="-1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FB95DB9E-31B3-43F6-9985-3BD1E1B7A998}"/>
              </a:ext>
            </a:extLst>
          </p:cNvPr>
          <p:cNvSpPr/>
          <p:nvPr/>
        </p:nvSpPr>
        <p:spPr>
          <a:xfrm>
            <a:off x="7199194" y="3429000"/>
            <a:ext cx="3957849" cy="3200454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9689EB-C91D-4AC0-92F2-96D842AB35A7}"/>
              </a:ext>
            </a:extLst>
          </p:cNvPr>
          <p:cNvSpPr txBox="1"/>
          <p:nvPr/>
        </p:nvSpPr>
        <p:spPr>
          <a:xfrm>
            <a:off x="7199194" y="6352455"/>
            <a:ext cx="3957849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Computational cost – Partial Stage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655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无冲突访存方法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CFC314-D68D-499D-BF74-35647E052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25" y="95535"/>
            <a:ext cx="5690687" cy="64076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F6A9C79-F5FF-47E4-893B-6B3DABC12580}"/>
              </a:ext>
            </a:extLst>
          </p:cNvPr>
          <p:cNvSpPr txBox="1"/>
          <p:nvPr/>
        </p:nvSpPr>
        <p:spPr>
          <a:xfrm>
            <a:off x="6308025" y="6365978"/>
            <a:ext cx="5690687" cy="307777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In-place conflict-free memory access pattern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1D722-9742-4096-8C5E-A79AACFF68B7}"/>
              </a:ext>
            </a:extLst>
          </p:cNvPr>
          <p:cNvSpPr/>
          <p:nvPr/>
        </p:nvSpPr>
        <p:spPr>
          <a:xfrm>
            <a:off x="6308025" y="68239"/>
            <a:ext cx="5690687" cy="6605516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640E429-3B47-42B4-81AD-8CC3B176D2B7}"/>
                  </a:ext>
                </a:extLst>
              </p:cNvPr>
              <p:cNvSpPr txBox="1"/>
              <p:nvPr/>
            </p:nvSpPr>
            <p:spPr>
              <a:xfrm>
                <a:off x="176799" y="1223425"/>
                <a:ext cx="6103515" cy="1933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AutoNum type="arabicPeriod"/>
                  <a:defRPr/>
                </a:pP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Simple case</a:t>
                </a: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8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=256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On-chip Memory: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𝐵𝑎𝑛𝑘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=0,…,3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𝐴𝑑𝑑𝑟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=0,…,63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NTT-BFU: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radix-4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x1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640E429-3B47-42B4-81AD-8CC3B176D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99" y="1223425"/>
                <a:ext cx="6103515" cy="1933030"/>
              </a:xfrm>
              <a:prstGeom prst="rect">
                <a:avLst/>
              </a:prstGeom>
              <a:blipFill>
                <a:blip r:embed="rId4"/>
                <a:stretch>
                  <a:fillRect l="-1299" t="-3470" b="-4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C912BDB-2E2D-48EE-B23B-C19419E2B430}"/>
                  </a:ext>
                </a:extLst>
              </p:cNvPr>
              <p:cNvSpPr txBox="1"/>
              <p:nvPr/>
            </p:nvSpPr>
            <p:spPr>
              <a:xfrm>
                <a:off x="176799" y="4042740"/>
                <a:ext cx="6103515" cy="1959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spcAft>
                    <a:spcPts val="600"/>
                  </a:spcAft>
                  <a:buFont typeface="+mj-lt"/>
                  <a:buAutoNum type="arabicPeriod" startAt="2"/>
                  <a:defRPr/>
                </a:pP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Actual case</a:t>
                </a: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16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=65536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On-chip Memory: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𝐵𝑎𝑛𝑘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=0,…,15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𝐴𝑑𝑑𝑟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=0,…,4095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800100" lvl="1" indent="-342900">
                  <a:spcAft>
                    <a:spcPts val="600"/>
                  </a:spcAft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NTT-BFU: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radix-16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x1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C912BDB-2E2D-48EE-B23B-C19419E2B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99" y="4042740"/>
                <a:ext cx="6103515" cy="1959383"/>
              </a:xfrm>
              <a:prstGeom prst="rect">
                <a:avLst/>
              </a:prstGeom>
              <a:blipFill>
                <a:blip r:embed="rId5"/>
                <a:stretch>
                  <a:fillRect l="-1299" t="-3416" b="-3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01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1799DF1-ADEC-4B1A-871F-5D4AE5740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62" y="1221526"/>
            <a:ext cx="3853217" cy="242963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3388A0F-4CD6-43B5-AEEA-02C349FFF7D8}"/>
              </a:ext>
            </a:extLst>
          </p:cNvPr>
          <p:cNvSpPr/>
          <p:nvPr/>
        </p:nvSpPr>
        <p:spPr>
          <a:xfrm>
            <a:off x="1978510" y="403091"/>
            <a:ext cx="2108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研究中的问题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E23DE4-3C27-43E7-92A2-668AEDCBE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11" y="278049"/>
            <a:ext cx="3684331" cy="33613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77F3A37-9B70-49CB-A27F-66791CC86B0C}"/>
              </a:ext>
            </a:extLst>
          </p:cNvPr>
          <p:cNvSpPr txBox="1"/>
          <p:nvPr/>
        </p:nvSpPr>
        <p:spPr>
          <a:xfrm>
            <a:off x="4272211" y="3639404"/>
            <a:ext cx="3684331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Poseidon[HPCA2023]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36057D-9A9C-44A8-9DFB-2B9E84507B6D}"/>
              </a:ext>
            </a:extLst>
          </p:cNvPr>
          <p:cNvSpPr/>
          <p:nvPr/>
        </p:nvSpPr>
        <p:spPr>
          <a:xfrm>
            <a:off x="4272211" y="278050"/>
            <a:ext cx="3684331" cy="3638354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290612-92A1-4676-B99E-655C3EDFB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012" y="1280655"/>
            <a:ext cx="3628162" cy="233537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0926C5-D8D7-47FE-A143-463C2C51860B}"/>
              </a:ext>
            </a:extLst>
          </p:cNvPr>
          <p:cNvSpPr txBox="1"/>
          <p:nvPr/>
        </p:nvSpPr>
        <p:spPr>
          <a:xfrm>
            <a:off x="8226882" y="3639404"/>
            <a:ext cx="3814292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NTT/INTT[DAC2024]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DEB62A-1194-4933-8D5F-ACB5E26E203F}"/>
              </a:ext>
            </a:extLst>
          </p:cNvPr>
          <p:cNvSpPr/>
          <p:nvPr/>
        </p:nvSpPr>
        <p:spPr>
          <a:xfrm>
            <a:off x="8227580" y="1257280"/>
            <a:ext cx="3814292" cy="2659124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2A00E2-A863-449C-B70A-05CD513F54F3}"/>
              </a:ext>
            </a:extLst>
          </p:cNvPr>
          <p:cNvSpPr txBox="1"/>
          <p:nvPr/>
        </p:nvSpPr>
        <p:spPr>
          <a:xfrm>
            <a:off x="156950" y="3639405"/>
            <a:ext cx="3853217" cy="27699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>
            <a:solidFill>
              <a:sysClr val="windowText" lastClr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NTT[TCAI2022]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6177DA-5CAF-454E-B4FF-0869E771F971}"/>
              </a:ext>
            </a:extLst>
          </p:cNvPr>
          <p:cNvSpPr/>
          <p:nvPr/>
        </p:nvSpPr>
        <p:spPr>
          <a:xfrm>
            <a:off x="144562" y="1221526"/>
            <a:ext cx="3865605" cy="2698795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98949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3620D7-7167-4E9C-A0A0-83CAB8131B99}"/>
              </a:ext>
            </a:extLst>
          </p:cNvPr>
          <p:cNvSpPr txBox="1"/>
          <p:nvPr/>
        </p:nvSpPr>
        <p:spPr>
          <a:xfrm>
            <a:off x="156950" y="4070395"/>
            <a:ext cx="3787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spcAft>
                <a:spcPts val="600"/>
              </a:spcAft>
              <a:buAutoNum type="arabicPeriod"/>
              <a:defRPr/>
            </a:pP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模块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片上存储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0BCAD8-17E3-4B0F-BCCF-3B5A26673CAB}"/>
              </a:ext>
            </a:extLst>
          </p:cNvPr>
          <p:cNvSpPr txBox="1"/>
          <p:nvPr/>
        </p:nvSpPr>
        <p:spPr>
          <a:xfrm>
            <a:off x="4272211" y="4058641"/>
            <a:ext cx="3684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spcAft>
                <a:spcPts val="600"/>
              </a:spcAft>
              <a:buFont typeface="+mj-lt"/>
              <a:buAutoNum type="arabicPeriod" startAt="2"/>
              <a:defRPr/>
            </a:pP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CKKS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加密方案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/HBM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存储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190AE6-E338-47E9-B34A-6E6866EBB81A}"/>
              </a:ext>
            </a:extLst>
          </p:cNvPr>
          <p:cNvSpPr txBox="1"/>
          <p:nvPr/>
        </p:nvSpPr>
        <p:spPr>
          <a:xfrm>
            <a:off x="8226882" y="4070395"/>
            <a:ext cx="3684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spcAft>
                <a:spcPts val="600"/>
              </a:spcAft>
              <a:buFont typeface="+mj-lt"/>
              <a:buAutoNum type="arabicPeriod" startAt="3"/>
              <a:defRPr/>
            </a:pP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模块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/HBM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存储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B63744E-2965-41A4-802D-DDAF8055FAE7}"/>
              </a:ext>
            </a:extLst>
          </p:cNvPr>
          <p:cNvCxnSpPr/>
          <p:nvPr/>
        </p:nvCxnSpPr>
        <p:spPr>
          <a:xfrm>
            <a:off x="0" y="4668781"/>
            <a:ext cx="12192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34261DB-9272-4B7D-8715-949051F6412B}"/>
              </a:ext>
            </a:extLst>
          </p:cNvPr>
          <p:cNvSpPr txBox="1"/>
          <p:nvPr/>
        </p:nvSpPr>
        <p:spPr>
          <a:xfrm>
            <a:off x="156950" y="4901511"/>
            <a:ext cx="11320817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Aft>
                <a:spcPts val="600"/>
              </a:spcAft>
              <a:defRPr/>
            </a:pP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问题</a:t>
            </a:r>
            <a:endParaRPr lang="en-US" altLang="zh-CN" sz="2000" b="1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457200" marR="0" indent="-457200">
              <a:spcAft>
                <a:spcPts val="600"/>
              </a:spcAft>
              <a:buAutoNum type="arabicPeriod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HBM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的原因？（只考虑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模块，若采用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in-place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访存方法，片上存储资源够用）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457200" marR="0" indent="-457200">
              <a:spcAft>
                <a:spcPts val="600"/>
              </a:spcAft>
              <a:buAutoNum type="arabicPeriod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架构设计的创新？（由于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NTT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模式基本固定，感觉单模块架构方面的创新主要出在访存上）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  <a:p>
            <a:pPr marL="457200" marR="0" indent="-457200">
              <a:spcAft>
                <a:spcPts val="600"/>
              </a:spcAft>
              <a:buAutoNum type="arabicPeriod"/>
              <a:defRPr/>
            </a:pP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加密方案的难点？（从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Poseidon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的设计中看，</a:t>
            </a:r>
            <a:r>
              <a:rPr lang="en-US" altLang="zh-CN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CKKS</a:t>
            </a:r>
            <a:r>
              <a:rPr lang="zh-CN" altLang="en-US" sz="2000" dirty="0">
                <a:latin typeface="Cambria Math" panose="02040503050406030204" pitchFamily="18" charset="0"/>
                <a:ea typeface="微软雅黑" panose="020B0503020204020204" pitchFamily="34" charset="-122"/>
              </a:rPr>
              <a:t>方案中大部分的开销依然在多项式乘法部分）</a:t>
            </a:r>
            <a:endParaRPr lang="en-US" altLang="zh-CN" sz="2000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3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951787" y="2449373"/>
            <a:ext cx="2425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2060"/>
                </a:solidFill>
                <a:cs typeface="+mn-ea"/>
                <a:sym typeface="+mn-lt"/>
              </a:rPr>
              <a:t>谢谢！</a:t>
            </a:r>
            <a:endParaRPr lang="en-US" altLang="zh-CN" sz="4000" b="1" dirty="0">
              <a:solidFill>
                <a:srgbClr val="002060"/>
              </a:solidFill>
              <a:cs typeface="+mn-ea"/>
              <a:sym typeface="+mn-lt"/>
            </a:endParaRPr>
          </a:p>
        </p:txBody>
      </p:sp>
      <p:pic>
        <p:nvPicPr>
          <p:cNvPr id="5" name="图片 4" descr="logo-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6" name="图片 5" descr="logo-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7" name="图片 5" descr="logo-04"/>
          <p:cNvPicPr>
            <a:picLocks noChangeAspect="1"/>
          </p:cNvPicPr>
          <p:nvPr/>
        </p:nvPicPr>
        <p:blipFill rotWithShape="1">
          <a:blip r:embed="rId5"/>
          <a:srcRect l="17547" t="29302" r="40417" b="31877"/>
          <a:stretch/>
        </p:blipFill>
        <p:spPr>
          <a:xfrm>
            <a:off x="5424805" y="260350"/>
            <a:ext cx="1384300" cy="8445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87104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805</Words>
  <Application>Microsoft Office PowerPoint</Application>
  <PresentationFormat>宽屏</PresentationFormat>
  <Paragraphs>100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Yiping SHI</dc:creator>
  <cp:lastModifiedBy>Yiping SHI</cp:lastModifiedBy>
  <cp:revision>43</cp:revision>
  <dcterms:created xsi:type="dcterms:W3CDTF">2024-12-08T15:03:33Z</dcterms:created>
  <dcterms:modified xsi:type="dcterms:W3CDTF">2024-12-10T14:35:21Z</dcterms:modified>
</cp:coreProperties>
</file>